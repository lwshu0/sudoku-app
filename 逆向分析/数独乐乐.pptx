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73" r:id="rId3"/>
    <p:sldId id="274" r:id="rId4"/>
    <p:sldId id="264" r:id="rId5"/>
    <p:sldId id="263" r:id="rId6"/>
    <p:sldId id="256" r:id="rId7"/>
    <p:sldId id="259" r:id="rId8"/>
    <p:sldId id="262" r:id="rId9"/>
    <p:sldId id="260" r:id="rId10"/>
    <p:sldId id="269" r:id="rId11"/>
    <p:sldId id="268" r:id="rId12"/>
    <p:sldId id="277" r:id="rId13"/>
    <p:sldId id="27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EBF"/>
    <a:srgbClr val="0058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53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3016F-7845-4E3D-A862-A8AE01F2648C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54ED7-D2FF-49C2-B2A5-B7AA73D601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37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54ED7-D2FF-49C2-B2A5-B7AA73D601E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769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54ED7-D2FF-49C2-B2A5-B7AA73D601E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968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54ED7-D2FF-49C2-B2A5-B7AA73D601E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083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54ED7-D2FF-49C2-B2A5-B7AA73D601E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671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543F-BE63-F6C8-CDBF-0B9C0BA6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431B6-B4BF-FBCF-0461-0339D7ACD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D22F59-2F76-02C8-60A7-CC2FE5A76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E002F1-D55B-5759-D212-99C09642C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54ED7-D2FF-49C2-B2A5-B7AA73D601E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78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E3972-667E-67B7-801C-217E7E22B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133E83-2F3E-B035-E8BD-D210E3D21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CA1B3-12DB-6880-430C-F468C929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E35081-71DD-C20D-BC04-94599F13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C1D7B-192A-3B8D-97CA-684F565E8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71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34322-471B-7504-C5D8-E9F0D769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13641C-7680-9695-EB06-E1A2278D8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123E3B-7D14-DEAE-590D-00C54D31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80473F-B470-B0EF-6A56-602AE751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033911-6E9B-75FB-6CE5-8700B251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348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C15A7-6F85-61CE-C3AA-FAE2ACC41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2D4DAC-9315-E02C-285E-58A1B9105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04C8B0-364D-46E1-533A-9AC629C8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3FBEA2-C1D1-5FD7-0E76-562A99C2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EF1D4-4723-6AE9-9B8E-8D89F1A9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54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8B079-7028-7D92-68EA-84832353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38B65-E4BF-8494-6D24-A218E52EBF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F9FD1-D75D-7E9E-FCE0-2839A140C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C7D62-F26F-EB29-AA82-2CA3FF59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32940B-2439-DF6D-E11E-8FE6E4B3E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348242-E23C-DD7D-970D-39D31729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84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6D8FC5-9F8E-6825-C45F-043C1A61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CDBA42-B9E0-F61E-4C1C-E0C5CD255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A33C2F-421B-8836-6685-E9737E603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F5609B-E32B-C11D-868F-6FB3AC441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E2D6688-6702-04F5-00D1-715C1794E3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3B71C8-8024-D74B-2D64-691E22C2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1B445C0-285F-7EA5-47EF-E87D8643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D250F3-5D09-F39B-890F-37AF8DA3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14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1BB03-6C8D-212E-C54F-00977544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E19403-B48D-D081-B5AC-7679DD70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4C1D29-7A1E-92E1-8BA3-0939553C4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92CD37-0FD0-2FC8-D573-6CD5179F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62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A341AC-2CEB-0578-65E3-E12A440D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0D7E65-46AD-3452-6069-7EE64542B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9BACCF-B8BB-848E-C5E9-2A02B2F7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78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87898-BFA5-5545-B64F-70BF4E46F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6F47B0-7E71-39FA-28C9-EDCE3FA6B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F49692-68A1-ADEA-E2DD-7B256C4B6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99725D-F157-EB7C-AC50-CFDF4EF2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EB682C-37B6-0410-0DF1-146ADFEA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B04648-F3A7-ECCF-BDA7-80E7594A5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21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C5E02-17F6-D856-65B7-C9B38EE3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F1C03D-6600-199F-200E-8B7216987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2C8AFE-639C-6BD4-15C7-AF73CE41B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99CB72-DBE4-3536-99F5-3D521CFB7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294733-E54B-37D2-E4A9-B830A74AA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92EF52-B4F6-C340-405D-30935EE1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55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CB58B-62A2-00CF-1C36-0EA7C0F9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D08932-AB98-1985-A93B-44F82F74B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94992-D5DE-DFC8-7C8C-8D799AE9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6F443-9711-16CA-D7A9-BD5C931D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CF4CB6-AA27-5ADB-968F-39204CC1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66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953713-FFD0-BB81-791A-85F4A2A69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59D8CE-AFA2-2570-807F-ED6695305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FA97F3-BF3C-428A-4D23-1D2A0D5D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6E1D0-7F1A-775C-6ED4-C27FD4868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3FCE26-BA85-4C91-4723-D13139A4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264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F8A244-C142-95F4-8939-FCEC1200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815D7C-9C92-4BF8-1368-5D5D6CEA3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21B9C-69CB-0406-F1F3-B9BB40BDA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181AD-B6CC-42B3-A129-E04D6E53CCF8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62A9E-A978-6FD5-D106-DD4572B81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6DAE72-5B76-4B19-149C-3008AD0B5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E0985-9E16-491C-9B58-4AAA5B344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28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B7EA6-1530-1FBB-200C-D5A530CE3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2090" y="1874192"/>
            <a:ext cx="9144000" cy="1112972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中期项目汇报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BF3B47-D342-85F2-DEE8-A26C75874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7199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小组成员：</a:t>
            </a:r>
            <a:endParaRPr lang="en-US" altLang="zh-CN" dirty="0"/>
          </a:p>
          <a:p>
            <a:r>
              <a:rPr lang="zh-CN" altLang="en-US" dirty="0"/>
              <a:t>刘文朔、黄圣西、徐佳诺、李菁菁、张嘉康、胡圣晗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F3B595-3DB4-AA68-9668-16A58ADABE8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FFF"/>
              </a:clrFrom>
              <a:clrTo>
                <a:srgbClr val="FC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835" y="-40005"/>
            <a:ext cx="1701165" cy="1661795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AC53787-DAAC-8039-0628-6BDF2F3FF6D2}"/>
              </a:ext>
            </a:extLst>
          </p:cNvPr>
          <p:cNvCxnSpPr/>
          <p:nvPr/>
        </p:nvCxnSpPr>
        <p:spPr>
          <a:xfrm>
            <a:off x="-41910" y="6237605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51FB64-C32E-2451-A96D-BF5B6EA871F7}"/>
              </a:ext>
            </a:extLst>
          </p:cNvPr>
          <p:cNvGrpSpPr/>
          <p:nvPr/>
        </p:nvGrpSpPr>
        <p:grpSpPr>
          <a:xfrm>
            <a:off x="-13335" y="1661795"/>
            <a:ext cx="488950" cy="2042795"/>
            <a:chOff x="2382" y="2667"/>
            <a:chExt cx="1318" cy="321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73E8BFB-1F4A-A46B-F2E8-2A4C0537F3B8}"/>
                </a:ext>
              </a:extLst>
            </p:cNvPr>
            <p:cNvSpPr/>
            <p:nvPr/>
          </p:nvSpPr>
          <p:spPr>
            <a:xfrm>
              <a:off x="2400" y="3159"/>
              <a:ext cx="527" cy="272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C687DF2-5347-DC09-D869-6B5E041AD4FC}"/>
                </a:ext>
              </a:extLst>
            </p:cNvPr>
            <p:cNvSpPr/>
            <p:nvPr/>
          </p:nvSpPr>
          <p:spPr>
            <a:xfrm>
              <a:off x="2400" y="2667"/>
              <a:ext cx="1301" cy="2724"/>
            </a:xfrm>
            <a:prstGeom prst="rect">
              <a:avLst/>
            </a:prstGeom>
            <a:solidFill>
              <a:srgbClr val="0058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F7C953AA-DCBF-D2FD-BBCE-885FA972E4F3}"/>
                </a:ext>
              </a:extLst>
            </p:cNvPr>
            <p:cNvSpPr/>
            <p:nvPr/>
          </p:nvSpPr>
          <p:spPr>
            <a:xfrm rot="16200000" flipH="1">
              <a:off x="2400" y="5358"/>
              <a:ext cx="508" cy="544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4F6E9DCD-7464-6038-9CB1-4922249F41FA}"/>
              </a:ext>
            </a:extLst>
          </p:cNvPr>
          <p:cNvSpPr txBox="1"/>
          <p:nvPr/>
        </p:nvSpPr>
        <p:spPr>
          <a:xfrm>
            <a:off x="9240520" y="6249287"/>
            <a:ext cx="29514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5825"/>
                </a:solidFill>
                <a:ea typeface="华文楷体" panose="02010600040101010101" pitchFamily="2" charset="-122"/>
              </a:rPr>
              <a:t>博学 审问 慎思 明辨 笃行</a:t>
            </a:r>
          </a:p>
        </p:txBody>
      </p:sp>
    </p:spTree>
    <p:extLst>
      <p:ext uri="{BB962C8B-B14F-4D97-AF65-F5344CB8AC3E}">
        <p14:creationId xmlns:p14="http://schemas.microsoft.com/office/powerpoint/2010/main" val="2191326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530AC-9FAB-1888-2977-D8D8C5D1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35F83-9A75-23BA-1CD7-2A7D9F63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-5080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用例分析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DFE7E17-EDA1-38D2-2986-0EDBDB978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110143"/>
              </p:ext>
            </p:extLst>
          </p:nvPr>
        </p:nvGraphicFramePr>
        <p:xfrm>
          <a:off x="509047" y="691385"/>
          <a:ext cx="11283884" cy="6042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343">
                  <a:extLst>
                    <a:ext uri="{9D8B030D-6E8A-4147-A177-3AD203B41FA5}">
                      <a16:colId xmlns:a16="http://schemas.microsoft.com/office/drawing/2014/main" val="1137711837"/>
                    </a:ext>
                  </a:extLst>
                </a:gridCol>
                <a:gridCol w="9408541">
                  <a:extLst>
                    <a:ext uri="{9D8B030D-6E8A-4147-A177-3AD203B41FA5}">
                      <a16:colId xmlns:a16="http://schemas.microsoft.com/office/drawing/2014/main" val="998115510"/>
                    </a:ext>
                  </a:extLst>
                </a:gridCol>
              </a:tblGrid>
              <a:tr h="55058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用例名称</a:t>
                      </a:r>
                    </a:p>
                  </a:txBody>
                  <a:tcPr>
                    <a:solidFill>
                      <a:srgbClr val="0058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简要描述</a:t>
                      </a:r>
                    </a:p>
                  </a:txBody>
                  <a:tcPr>
                    <a:solidFill>
                      <a:srgbClr val="005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78444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生成棋盘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玩家通过菜单栏选择难度等级，系统根据所选难度生成符合规则的数独初始棋盘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47846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输入数字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玩家选中数独空格后输入数字，系统验证数字是否符合数独规则并更新显示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490029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候选值笔记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玩家开启笔记功能后，可在选中单元格添加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移除候选值（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1-9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），辅助解题，支持一键清空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3579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分享数独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玩家点击分享按钮后，可选择数独识别码、推特、脸书、邮件、二维码等方式，分享当前数独棋盘给他人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399142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管理系统个性化设置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玩家点击设置按钮后，可在弹窗页面中配置个性化选项（如是否显示计时器、是否启用高亮提醒、切换黑暗模式等），配置后保存生效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305442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高亮提醒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玩家已启用高亮提醒设置的前提下，选中单元格时，系统根据预设规则自动高亮相关单元格（同行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同列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同九宫格、相同数字、冲突数字）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568271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计时器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玩家启用计时功能后，游戏初始化时自动开始计时；玩家可点击计时器的暂停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开始按钮控制计时状态，暂停时隐藏所有单元格数字，开始时恢复显示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058716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校验数独答案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玩家填写完数独棋盘所有数字后，系统校验棋盘是否符合数独规则，根据校验结果给出对应提示（通关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错误）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38924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提示单元格数字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玩家选中单元格后，点击提示按钮可以获取当前单元格的正确答案。成功获取后，可用提示次数减 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32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16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FD23-1C58-248E-C033-78E442F1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E59BAE-B8ED-1BF8-53E3-F3951B7D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-5080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用例分析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7FF130B-D1CA-AC18-0E0B-55BE42C32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194588"/>
              </p:ext>
            </p:extLst>
          </p:nvPr>
        </p:nvGraphicFramePr>
        <p:xfrm>
          <a:off x="584461" y="1732495"/>
          <a:ext cx="11283884" cy="348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343">
                  <a:extLst>
                    <a:ext uri="{9D8B030D-6E8A-4147-A177-3AD203B41FA5}">
                      <a16:colId xmlns:a16="http://schemas.microsoft.com/office/drawing/2014/main" val="1137711837"/>
                    </a:ext>
                  </a:extLst>
                </a:gridCol>
                <a:gridCol w="9408541">
                  <a:extLst>
                    <a:ext uri="{9D8B030D-6E8A-4147-A177-3AD203B41FA5}">
                      <a16:colId xmlns:a16="http://schemas.microsoft.com/office/drawing/2014/main" val="998115510"/>
                    </a:ext>
                  </a:extLst>
                </a:gridCol>
              </a:tblGrid>
              <a:tr h="55058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用例名称</a:t>
                      </a:r>
                    </a:p>
                  </a:txBody>
                  <a:tcPr>
                    <a:solidFill>
                      <a:srgbClr val="0058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简要描述</a:t>
                      </a:r>
                    </a:p>
                  </a:txBody>
                  <a:tcPr>
                    <a:solidFill>
                      <a:srgbClr val="005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78444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资源集成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玩家通过输入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sencode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/URL 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来导入自定义的数独棋盘资源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47846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撤销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支持玩家撤回最近一次有效的数字输入操作，可连续撤销历史输入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490029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重做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玩家执行撤销操作后，可重新应用最近一次被撤销的数字输入，可连续重做未被覆盖的撤销记录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3579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下一步提示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系统基于数独推理策略，为玩家提示下一个可填写单元格及对应推理依据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399142"/>
                  </a:ext>
                </a:extLst>
              </a:tr>
              <a:tr h="550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探索回溯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玩家在多候选值单元格（分支点）选择数字探索解题，遇错误时可一键回溯至最近分支点，删除探索过程的输入并更新候选值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30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87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BCD1C-121E-F173-0891-8F225109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E44CB6-4DBF-4EF5-0F5A-734D54822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468" y="1148628"/>
            <a:ext cx="10544175" cy="544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26B6A812-27A1-DC04-1457-9F54B9C6E8DB}"/>
              </a:ext>
            </a:extLst>
          </p:cNvPr>
          <p:cNvSpPr txBox="1">
            <a:spLocks/>
          </p:cNvSpPr>
          <p:nvPr/>
        </p:nvSpPr>
        <p:spPr>
          <a:xfrm>
            <a:off x="-67365" y="0"/>
            <a:ext cx="2162865" cy="615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领域模型</a:t>
            </a:r>
          </a:p>
        </p:txBody>
      </p:sp>
    </p:spTree>
    <p:extLst>
      <p:ext uri="{BB962C8B-B14F-4D97-AF65-F5344CB8AC3E}">
        <p14:creationId xmlns:p14="http://schemas.microsoft.com/office/powerpoint/2010/main" val="19482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29FC008-4B50-72D7-C97E-F4BA4CF23B6C}"/>
              </a:ext>
            </a:extLst>
          </p:cNvPr>
          <p:cNvSpPr txBox="1">
            <a:spLocks/>
          </p:cNvSpPr>
          <p:nvPr/>
        </p:nvSpPr>
        <p:spPr>
          <a:xfrm>
            <a:off x="-67365" y="0"/>
            <a:ext cx="2162865" cy="615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对象模型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8698D0-D8BE-4FAF-B216-1A66486E2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8" y="0"/>
            <a:ext cx="11943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8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B0238C6A-66D3-9AB7-0F97-3B16794B8075}"/>
              </a:ext>
            </a:extLst>
          </p:cNvPr>
          <p:cNvSpPr txBox="1">
            <a:spLocks/>
          </p:cNvSpPr>
          <p:nvPr/>
        </p:nvSpPr>
        <p:spPr>
          <a:xfrm>
            <a:off x="-67365" y="0"/>
            <a:ext cx="2162865" cy="6159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资源集成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09B27E-D283-9469-3EE1-8B3F240ED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8" y="615950"/>
            <a:ext cx="3783589" cy="624205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7246B59-98B1-A035-E54C-24B4A5026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002009-F3F8-EC61-70B8-D541DBC926DE}"/>
              </a:ext>
            </a:extLst>
          </p:cNvPr>
          <p:cNvSpPr txBox="1"/>
          <p:nvPr/>
        </p:nvSpPr>
        <p:spPr>
          <a:xfrm>
            <a:off x="4037410" y="615950"/>
            <a:ext cx="8390835" cy="6696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SudokuParser（解析上下文类）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：统一管理解析策略，对外提供解析 / 编码能力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：strategies: Array&lt;ParseStrategy&gt;（已注册的解析策略列表，私有封装）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registerStrategy(strategy)：注册新的解析策略；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parse(input): number[][]：解析输入数据，输出棋盘格式的数字矩阵；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validate(input): boolean：验证输入数据的合法性；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encode(sudoku): string：将数独棋盘编码为可分享的字符串；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&lt;&lt;Abstract&gt;&gt; ParseStrategy（解析策略抽象类）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：validate(input): boolean（验证输入合法性）；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SencodeParseStrategy：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处理 “编码格式来源” 的解析（如内部自定义编码），实现validate和parse(encode)方法；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UrlParseStrategy：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处理 “URL 来源” 的解析（如 SudokuWiki 链接），包含私有常量BD_PARAM_KEY（URL 参数键），实现extractBdParam(url)（提取 URL 参数）、validate、parse(url)方法。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86406EB-CB42-8A5A-6ADA-EFC424139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62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D9236-581F-274F-A797-2DE21B48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6065A39A-6A32-2807-DBA2-CEC80643A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5" y="1439187"/>
            <a:ext cx="5374585" cy="46771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2A4998F-4698-C376-4D58-0A1CBF2C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5" y="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下一步提示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C5E5AD9-F674-184A-D1C4-59111262E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F96366-4BEE-DED2-1F0C-D5D5A99348F5}"/>
              </a:ext>
            </a:extLst>
          </p:cNvPr>
          <p:cNvSpPr txBox="1"/>
          <p:nvPr/>
        </p:nvSpPr>
        <p:spPr>
          <a:xfrm>
            <a:off x="4968185" y="367099"/>
            <a:ext cx="6502400" cy="6327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Solver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（解题协调类）</a:t>
            </a:r>
            <a:r>
              <a:rPr lang="zh-CN" altLang="en-US" sz="1600" b="1" dirty="0">
                <a:solidFill>
                  <a:srgbClr val="000000"/>
                </a:solidFill>
                <a:ea typeface="Inter"/>
              </a:rPr>
              <a:t>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解题提示模块的总控制器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属性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strategies: ISolverStrategy[]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 ：管理所有已注册的解题策略</a:t>
            </a:r>
            <a:endParaRPr lang="en-US" altLang="zh-CN" sz="1600" dirty="0">
              <a:solidFill>
                <a:srgbClr val="000000"/>
              </a:solidFill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方法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getNextHint(grid, userNotes): Hint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：接收当前棋盘、用户笔记，调用策略生成下一个解题提示；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findConflict(grid): string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：检测当前棋盘的冲突（如同一行重复数字），返回冲突描述</a:t>
            </a:r>
            <a:endParaRPr lang="en-US" altLang="zh-CN" sz="1600" dirty="0">
              <a:solidFill>
                <a:srgbClr val="000000"/>
              </a:solidFill>
              <a:ea typeface="Inter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SudokuHelper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（解题辅助工具类）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封装数独解题的通用基础能力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方法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getPeers(index)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：根据格子索引，获取其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同行、同列、同宫的所有格子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getCandidates(grid, userNotes)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：结合当前棋盘和用户笔记，计算某个格子的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候选数集合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getUnits()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：获取数独的 “单元”（行、列、宫的集合），是解题逻辑的基础数据。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62595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36E4-9CAE-78B0-198E-DFA8D9AD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54978A3A-39EB-6BBE-09C8-2D48A5DE1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85" y="1439187"/>
            <a:ext cx="5374585" cy="46771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4039981-35BF-7DFA-0896-B33FB059C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85" y="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下一步提示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27EF7E7-9C29-F6CA-9F62-0E0084FE2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C67554-890D-452C-0C07-E5557EE561E1}"/>
              </a:ext>
            </a:extLst>
          </p:cNvPr>
          <p:cNvSpPr txBox="1"/>
          <p:nvPr/>
        </p:nvSpPr>
        <p:spPr>
          <a:xfrm>
            <a:off x="5101344" y="527967"/>
            <a:ext cx="6832990" cy="5588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ISolverStrategy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（解题策略接口）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属性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name: string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：策略名称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方法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solve(grid, candidates): Hint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：接收当前棋盘、候选数，执行该策略的解题逻辑，返回对应的提示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 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Hint</a:t>
            </a: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（提示实体类）</a:t>
            </a:r>
            <a:endParaRPr kumimoji="0" lang="zh-CN" altLang="zh-CN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属性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Inter"/>
              </a:rPr>
              <a:t>：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cellIndex: number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：提示对应的格子索引；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value: number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：提示的目标数值；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strategyName: string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：生成此提示所用的策略名称；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description: string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：提示的文字说明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affectedCells: number[]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：此提示影响的其他格子；</a:t>
            </a:r>
            <a:endParaRPr lang="en-US" altLang="zh-CN" sz="1600" dirty="0">
              <a:solidFill>
                <a:srgbClr val="000000"/>
              </a:solidFill>
              <a:latin typeface="Arial" panose="020B0604020202020204" pitchFamily="34" charset="0"/>
              <a:ea typeface="Inter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Menlo"/>
              </a:rPr>
              <a:t>type: 'FILL' | 'ELIMINATE'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Inter"/>
              </a:rPr>
              <a:t>：提示类型（填充数字 / 排除候选数）。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526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8AF3-A875-3175-2B5D-E0D6A0A1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C54BE-E2A6-3797-21A8-C5D331624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-5080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探索模式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162930-DD92-F78F-BBB3-8332196F3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6" y="704850"/>
            <a:ext cx="3556040" cy="615315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66EFFD7-02EF-66D4-58AC-9F716AE17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F455AF-F5BB-6F36-B911-3D1C2C130B66}"/>
              </a:ext>
            </a:extLst>
          </p:cNvPr>
          <p:cNvSpPr txBox="1"/>
          <p:nvPr/>
        </p:nvSpPr>
        <p:spPr>
          <a:xfrm>
            <a:off x="3998912" y="508000"/>
            <a:ext cx="8377238" cy="6194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&lt;Service&gt;&gt; HistoryManager（状态管理服务类）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管理状态快照的存储、恢复与分支控制</a:t>
            </a:r>
            <a:endParaRPr kumimoji="0" lang="en-US" altLang="zh-CN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属性：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history: HistoryEntry[]：存储所有状态变更的历史条目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triedCandidates:：记录每个分支点尝试过的候选数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方法：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recordMutation(pos, value, source)：记录单元格的变更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undo()/redo()：撤销 / 重做状态变更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restartFromLastBranch()：从最近的分支点重启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&lt;&lt;Struct&gt;&gt; HistoryEntry（历史条目结构体）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存储单次状态变更的 “快照”</a:t>
            </a:r>
            <a:endParaRPr kumimoji="0" lang="zh-CN" altLang="zh-CN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属性：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action: CellAction：单元格操作类型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branch: BranchMeta：该变更对应的分支元数据；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prevValue: number：变更前的单元格值；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nextValue: number：变更后的单元格值；</a:t>
            </a:r>
            <a:endParaRPr kumimoji="0" lang="zh-CN" altLang="zh-CN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&lt;&lt;Exploration Data&gt;&gt; BranchMeta（分支元数据）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保存分支探索的关键状态</a:t>
            </a:r>
            <a:endParaRPr kumimoji="0" lang="zh-CN" altLang="zh-CN" sz="1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属性：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isBranchPoint: boolean：标记该条目是否为分支点；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candidatesAtBranch: number[]：分支点处单元格的候选数集合；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triedCandidates: number[]：该分支点已尝试过的候选数；</a:t>
            </a:r>
          </a:p>
        </p:txBody>
      </p:sp>
    </p:spTree>
    <p:extLst>
      <p:ext uri="{BB962C8B-B14F-4D97-AF65-F5344CB8AC3E}">
        <p14:creationId xmlns:p14="http://schemas.microsoft.com/office/powerpoint/2010/main" val="3157284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2F31-1B4C-8F9F-E9FA-FCE97DC62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箭头: 右 24">
            <a:extLst>
              <a:ext uri="{FF2B5EF4-FFF2-40B4-BE49-F238E27FC236}">
                <a16:creationId xmlns:a16="http://schemas.microsoft.com/office/drawing/2014/main" id="{B698A459-825B-83F7-3D38-987F696BA809}"/>
              </a:ext>
            </a:extLst>
          </p:cNvPr>
          <p:cNvSpPr/>
          <p:nvPr/>
        </p:nvSpPr>
        <p:spPr>
          <a:xfrm>
            <a:off x="1479006" y="5072414"/>
            <a:ext cx="1868864" cy="328922"/>
          </a:xfrm>
          <a:prstGeom prst="rightArrow">
            <a:avLst>
              <a:gd name="adj1" fmla="val 50000"/>
              <a:gd name="adj2" fmla="val 123404"/>
            </a:avLst>
          </a:prstGeom>
          <a:solidFill>
            <a:srgbClr val="CADE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BF3CE384-9D3A-4077-5DC8-F33DF1C1A367}"/>
              </a:ext>
            </a:extLst>
          </p:cNvPr>
          <p:cNvSpPr/>
          <p:nvPr/>
        </p:nvSpPr>
        <p:spPr>
          <a:xfrm>
            <a:off x="1479006" y="5933511"/>
            <a:ext cx="1868864" cy="328922"/>
          </a:xfrm>
          <a:prstGeom prst="rightArrow">
            <a:avLst>
              <a:gd name="adj1" fmla="val 50000"/>
              <a:gd name="adj2" fmla="val 123404"/>
            </a:avLst>
          </a:prstGeom>
          <a:solidFill>
            <a:srgbClr val="CADE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AA475822-EDAB-96A7-C901-E732F64E7980}"/>
              </a:ext>
            </a:extLst>
          </p:cNvPr>
          <p:cNvSpPr/>
          <p:nvPr/>
        </p:nvSpPr>
        <p:spPr>
          <a:xfrm>
            <a:off x="1458596" y="5679357"/>
            <a:ext cx="6400398" cy="328922"/>
          </a:xfrm>
          <a:prstGeom prst="rightArrow">
            <a:avLst>
              <a:gd name="adj1" fmla="val 50000"/>
              <a:gd name="adj2" fmla="val 123404"/>
            </a:avLst>
          </a:prstGeom>
          <a:solidFill>
            <a:srgbClr val="CADE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C6D2162A-0F2A-29BD-9B85-82D1A4F624A1}"/>
              </a:ext>
            </a:extLst>
          </p:cNvPr>
          <p:cNvSpPr/>
          <p:nvPr/>
        </p:nvSpPr>
        <p:spPr>
          <a:xfrm>
            <a:off x="1479006" y="4794393"/>
            <a:ext cx="6400398" cy="328922"/>
          </a:xfrm>
          <a:prstGeom prst="rightArrow">
            <a:avLst>
              <a:gd name="adj1" fmla="val 50000"/>
              <a:gd name="adj2" fmla="val 123404"/>
            </a:avLst>
          </a:prstGeom>
          <a:solidFill>
            <a:srgbClr val="CADE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DD9365-4EC9-6667-84C5-31242762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-5080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分支模型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C02B014-F860-7933-52D1-EA8DDBDB0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953947"/>
              </p:ext>
            </p:extLst>
          </p:nvPr>
        </p:nvGraphicFramePr>
        <p:xfrm>
          <a:off x="454058" y="810591"/>
          <a:ext cx="11283884" cy="2618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343">
                  <a:extLst>
                    <a:ext uri="{9D8B030D-6E8A-4147-A177-3AD203B41FA5}">
                      <a16:colId xmlns:a16="http://schemas.microsoft.com/office/drawing/2014/main" val="1137711837"/>
                    </a:ext>
                  </a:extLst>
                </a:gridCol>
                <a:gridCol w="9408541">
                  <a:extLst>
                    <a:ext uri="{9D8B030D-6E8A-4147-A177-3AD203B41FA5}">
                      <a16:colId xmlns:a16="http://schemas.microsoft.com/office/drawing/2014/main" val="998115510"/>
                    </a:ext>
                  </a:extLst>
                </a:gridCol>
              </a:tblGrid>
              <a:tr h="52368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分支名称</a:t>
                      </a:r>
                    </a:p>
                  </a:txBody>
                  <a:tcPr>
                    <a:solidFill>
                      <a:srgbClr val="00582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简要描述</a:t>
                      </a:r>
                    </a:p>
                  </a:txBody>
                  <a:tcPr>
                    <a:solidFill>
                      <a:srgbClr val="0058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578444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存放最稳定的正式版本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47846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主开发分支，其上更新的代码始终反映着下一个发布版本需要交付的新功能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490029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功能分支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，一般命名为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feature/xxx,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拉取自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分支，开发完成后合并回 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分支</a:t>
                      </a:r>
                      <a:endParaRPr lang="zh-CN" alt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3579"/>
                  </a:ext>
                </a:extLst>
              </a:tr>
              <a:tr h="5236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gh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</a:t>
                      </a:r>
                      <a:r>
                        <a:rPr lang="en-US" altLang="zh-C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pages </a:t>
                      </a:r>
                      <a:r>
                        <a:rPr lang="zh-CN" alt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部署分支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39914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ED8B37C6-5043-54AA-98A7-AF9EFE357811}"/>
              </a:ext>
            </a:extLst>
          </p:cNvPr>
          <p:cNvSpPr txBox="1">
            <a:spLocks/>
          </p:cNvSpPr>
          <p:nvPr/>
        </p:nvSpPr>
        <p:spPr>
          <a:xfrm>
            <a:off x="135835" y="3653015"/>
            <a:ext cx="11353800" cy="861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workflows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729E494-5678-FDCA-5F8B-1741D134DE0F}"/>
              </a:ext>
            </a:extLst>
          </p:cNvPr>
          <p:cNvSpPr txBox="1"/>
          <p:nvPr/>
        </p:nvSpPr>
        <p:spPr>
          <a:xfrm>
            <a:off x="-9435" y="4730509"/>
            <a:ext cx="1868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endParaRPr lang="zh-CN" altLang="en-US" sz="2400" b="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F4394E3-5603-4381-86B2-AF3DABC0D0AB}"/>
              </a:ext>
            </a:extLst>
          </p:cNvPr>
          <p:cNvSpPr txBox="1"/>
          <p:nvPr/>
        </p:nvSpPr>
        <p:spPr>
          <a:xfrm>
            <a:off x="-9435" y="5732224"/>
            <a:ext cx="1868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endParaRPr lang="zh-CN" altLang="en-US" sz="2400" b="0" kern="1200" dirty="0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0DF19E-3B6C-1D81-52CE-D44810DE65FC}"/>
              </a:ext>
            </a:extLst>
          </p:cNvPr>
          <p:cNvSpPr/>
          <p:nvPr/>
        </p:nvSpPr>
        <p:spPr>
          <a:xfrm>
            <a:off x="2868384" y="4708114"/>
            <a:ext cx="1666784" cy="1556735"/>
          </a:xfrm>
          <a:prstGeom prst="roundRect">
            <a:avLst/>
          </a:prstGeom>
          <a:noFill/>
          <a:ln w="25400">
            <a:solidFill>
              <a:srgbClr val="0058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Prettier</a:t>
            </a: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代码格式化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D37D57F-4D91-E805-E0B2-1B9D6F4A995A}"/>
              </a:ext>
            </a:extLst>
          </p:cNvPr>
          <p:cNvSpPr/>
          <p:nvPr/>
        </p:nvSpPr>
        <p:spPr>
          <a:xfrm>
            <a:off x="5404062" y="4686171"/>
            <a:ext cx="1666784" cy="1556735"/>
          </a:xfrm>
          <a:prstGeom prst="roundRect">
            <a:avLst/>
          </a:prstGeom>
          <a:noFill/>
          <a:ln w="25400">
            <a:solidFill>
              <a:srgbClr val="0058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GithubPages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部署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E296343-EC79-A79B-86BD-288956409509}"/>
              </a:ext>
            </a:extLst>
          </p:cNvPr>
          <p:cNvSpPr/>
          <p:nvPr/>
        </p:nvSpPr>
        <p:spPr>
          <a:xfrm>
            <a:off x="7623142" y="5540787"/>
            <a:ext cx="4114800" cy="653102"/>
          </a:xfrm>
          <a:prstGeom prst="roundRect">
            <a:avLst/>
          </a:prstGeom>
          <a:noFill/>
          <a:ln w="25400">
            <a:solidFill>
              <a:srgbClr val="0058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dk1"/>
                </a:solidFill>
              </a:rPr>
              <a:t>https://xxx.github.io/sudoku-app/dev/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B22C85C-1FF7-F647-36DE-F42251BA5166}"/>
              </a:ext>
            </a:extLst>
          </p:cNvPr>
          <p:cNvSpPr/>
          <p:nvPr/>
        </p:nvSpPr>
        <p:spPr>
          <a:xfrm>
            <a:off x="7623142" y="4637926"/>
            <a:ext cx="4114800" cy="653102"/>
          </a:xfrm>
          <a:prstGeom prst="roundRect">
            <a:avLst/>
          </a:prstGeom>
          <a:noFill/>
          <a:ln w="25400">
            <a:solidFill>
              <a:srgbClr val="0058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dk1"/>
                </a:solidFill>
              </a:rPr>
              <a:t>https://xxx.github.io/sudoku-app/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F7CFF78-8131-8CD0-207E-9925BA5307F3}"/>
              </a:ext>
            </a:extLst>
          </p:cNvPr>
          <p:cNvSpPr txBox="1"/>
          <p:nvPr/>
        </p:nvSpPr>
        <p:spPr>
          <a:xfrm>
            <a:off x="1422086" y="4730194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C63FB29-4DAC-18F3-071E-8F076E873393}"/>
              </a:ext>
            </a:extLst>
          </p:cNvPr>
          <p:cNvSpPr txBox="1"/>
          <p:nvPr/>
        </p:nvSpPr>
        <p:spPr>
          <a:xfrm>
            <a:off x="1430612" y="504618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5FC948-6551-6FDE-E2FE-F8833CD42E99}"/>
              </a:ext>
            </a:extLst>
          </p:cNvPr>
          <p:cNvSpPr txBox="1"/>
          <p:nvPr/>
        </p:nvSpPr>
        <p:spPr>
          <a:xfrm>
            <a:off x="1430612" y="5602231"/>
            <a:ext cx="66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push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7833AC7-6A22-7FDA-6243-E80894772E83}"/>
              </a:ext>
            </a:extLst>
          </p:cNvPr>
          <p:cNvSpPr txBox="1"/>
          <p:nvPr/>
        </p:nvSpPr>
        <p:spPr>
          <a:xfrm>
            <a:off x="1430612" y="5876514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280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B61DCBC-6B5B-2626-C545-1324B864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-5080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实现效果</a:t>
            </a:r>
          </a:p>
        </p:txBody>
      </p:sp>
      <p:pic>
        <p:nvPicPr>
          <p:cNvPr id="6" name="图片 5" descr="电子计算机&#10;&#10;AI 生成的内容可能不正确。">
            <a:extLst>
              <a:ext uri="{FF2B5EF4-FFF2-40B4-BE49-F238E27FC236}">
                <a16:creationId xmlns:a16="http://schemas.microsoft.com/office/drawing/2014/main" id="{EAF5A0FF-99D0-ED1E-9C64-0B7EB813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78" y="263950"/>
            <a:ext cx="3848114" cy="5863472"/>
          </a:xfrm>
          <a:prstGeom prst="rect">
            <a:avLst/>
          </a:prstGeom>
        </p:spPr>
      </p:pic>
      <p:pic>
        <p:nvPicPr>
          <p:cNvPr id="8" name="图片 7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2854AF38-32F7-2177-74B7-6523EAAAD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862" y="639687"/>
            <a:ext cx="5029902" cy="1886213"/>
          </a:xfrm>
          <a:prstGeom prst="rect">
            <a:avLst/>
          </a:prstGeom>
        </p:spPr>
      </p:pic>
      <p:pic>
        <p:nvPicPr>
          <p:cNvPr id="10" name="图片 9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78A7E88C-2154-5D36-D756-609FA9147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600" y="3195686"/>
            <a:ext cx="3772426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62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4A1E6-47CF-1F38-CCD7-B2D2FFC7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76405-61EE-5F80-D866-64A3EAD59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5" y="-50800"/>
            <a:ext cx="11353800" cy="861391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74431CA-52B5-5FBA-1C87-E071E883C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6E0F15-7052-51F5-F8B0-9C5A059EF05D}"/>
              </a:ext>
            </a:extLst>
          </p:cNvPr>
          <p:cNvSpPr txBox="1"/>
          <p:nvPr/>
        </p:nvSpPr>
        <p:spPr>
          <a:xfrm>
            <a:off x="455807" y="810591"/>
            <a:ext cx="111695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高度可扩展性</a:t>
            </a:r>
            <a:endParaRPr lang="en-US" altLang="zh-CN" b="1" dirty="0"/>
          </a:p>
          <a:p>
            <a:pPr lvl="1"/>
            <a:r>
              <a:rPr lang="en-US" altLang="zh-CN" dirty="0" err="1"/>
              <a:t>SudokuParser</a:t>
            </a:r>
            <a:r>
              <a:rPr lang="zh-CN" altLang="en-US" dirty="0"/>
              <a:t>和</a:t>
            </a:r>
            <a:r>
              <a:rPr lang="en-US" altLang="zh-CN" dirty="0"/>
              <a:t>Solver</a:t>
            </a:r>
            <a:r>
              <a:rPr lang="zh-CN" altLang="en-US" dirty="0"/>
              <a:t>两个核心模块均采用了策略模式。如果未来需要支持新的输入格式（如通过图片识别数独）或增加更多的数学解题算法，只需新增策略类而无需修改核心控制逻辑。这种设计符合开闭原则。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单一职责原则</a:t>
            </a:r>
            <a:endParaRPr lang="en-US" altLang="zh-CN" b="1" dirty="0"/>
          </a:p>
          <a:p>
            <a:pPr lvl="1"/>
            <a:r>
              <a:rPr lang="zh-CN" altLang="en-US" dirty="0"/>
              <a:t>每个类只负责一项职责。如 </a:t>
            </a:r>
            <a:r>
              <a:rPr lang="en-US" altLang="zh-CN" dirty="0" err="1"/>
              <a:t>SudokuParser</a:t>
            </a:r>
            <a:r>
              <a:rPr lang="en-US" altLang="zh-CN" dirty="0"/>
              <a:t> </a:t>
            </a:r>
            <a:r>
              <a:rPr lang="zh-CN" altLang="en-US" dirty="0"/>
              <a:t>负责资源解析，</a:t>
            </a:r>
            <a:r>
              <a:rPr lang="en-US" altLang="zh-CN" dirty="0"/>
              <a:t>Solver </a:t>
            </a:r>
            <a:r>
              <a:rPr lang="zh-CN" altLang="en-US" dirty="0"/>
              <a:t>负责根据当前棋盘生成提示， </a:t>
            </a:r>
            <a:r>
              <a:rPr lang="en-US" altLang="zh-CN" dirty="0"/>
              <a:t>Timer</a:t>
            </a:r>
            <a:r>
              <a:rPr lang="zh-CN" altLang="en-US" dirty="0"/>
              <a:t>管理时间， </a:t>
            </a:r>
            <a:r>
              <a:rPr lang="en-US" altLang="zh-CN" dirty="0"/>
              <a:t>Settings </a:t>
            </a:r>
            <a:r>
              <a:rPr lang="zh-CN" altLang="en-US" dirty="0"/>
              <a:t>管理设置等。通过职责分离，简化了类的复杂性，便于维护和扩展。 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状态管理与业务逻辑解耦，便于维护</a:t>
            </a:r>
            <a:endParaRPr lang="en-US" altLang="zh-CN" b="1" dirty="0"/>
          </a:p>
          <a:p>
            <a:pPr lvl="1"/>
            <a:r>
              <a:rPr lang="zh-CN" altLang="en-US" dirty="0"/>
              <a:t>使用备忘录模式实现的撤销</a:t>
            </a:r>
            <a:r>
              <a:rPr lang="en-US" altLang="zh-CN" dirty="0"/>
              <a:t>/</a:t>
            </a:r>
            <a:r>
              <a:rPr lang="zh-CN" altLang="en-US" dirty="0"/>
              <a:t>重做</a:t>
            </a:r>
            <a:r>
              <a:rPr lang="en-US" altLang="zh-CN" dirty="0"/>
              <a:t>/</a:t>
            </a:r>
            <a:r>
              <a:rPr lang="zh-CN" altLang="en-US" dirty="0"/>
              <a:t>回溯功能</a:t>
            </a:r>
            <a:r>
              <a:rPr lang="en-US" altLang="zh-CN" dirty="0"/>
              <a:t>,</a:t>
            </a:r>
            <a:r>
              <a:rPr lang="zh-CN" altLang="en-US" dirty="0"/>
              <a:t> 能在不暴露对象内部细节的前提下，捕获并保存对象的状态，后续需要时可将对象恢复到被保存的状态。</a:t>
            </a:r>
            <a:endParaRPr lang="en-US" altLang="zh-CN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D0BA0AB-00C6-1843-8519-A094ECDFA714}"/>
              </a:ext>
            </a:extLst>
          </p:cNvPr>
          <p:cNvSpPr txBox="1">
            <a:spLocks/>
          </p:cNvSpPr>
          <p:nvPr/>
        </p:nvSpPr>
        <p:spPr>
          <a:xfrm>
            <a:off x="135835" y="3296717"/>
            <a:ext cx="11353800" cy="861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疑问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202075-E6F8-F263-AAD0-1033EBE26D41}"/>
              </a:ext>
            </a:extLst>
          </p:cNvPr>
          <p:cNvSpPr txBox="1"/>
          <p:nvPr/>
        </p:nvSpPr>
        <p:spPr>
          <a:xfrm>
            <a:off x="455807" y="3965475"/>
            <a:ext cx="108767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领域对象</a:t>
            </a:r>
            <a:endParaRPr lang="en-US" altLang="zh-CN" b="1" dirty="0"/>
          </a:p>
          <a:p>
            <a:pPr lvl="1"/>
            <a:r>
              <a:rPr lang="zh-CN" altLang="en-US" dirty="0"/>
              <a:t>领域对象的边界是什么</a:t>
            </a:r>
            <a:r>
              <a:rPr lang="en-US" altLang="zh-CN" dirty="0"/>
              <a:t>? </a:t>
            </a:r>
            <a:r>
              <a:rPr lang="zh-CN" altLang="en-US" dirty="0"/>
              <a:t> “数独棋盘（</a:t>
            </a:r>
            <a:r>
              <a:rPr lang="en-US" altLang="zh-CN" dirty="0"/>
              <a:t>Board</a:t>
            </a:r>
            <a:r>
              <a:rPr lang="zh-CN" altLang="en-US" dirty="0"/>
              <a:t>）”“单元格（</a:t>
            </a:r>
            <a:r>
              <a:rPr lang="en-US" altLang="zh-CN" dirty="0"/>
              <a:t>Cell</a:t>
            </a:r>
            <a:r>
              <a:rPr lang="zh-CN" altLang="en-US" dirty="0"/>
              <a:t>）”是很明显的领域对象</a:t>
            </a:r>
            <a:r>
              <a:rPr lang="en-US" altLang="zh-CN" dirty="0"/>
              <a:t>, </a:t>
            </a:r>
            <a:r>
              <a:rPr lang="zh-CN" altLang="en-US" dirty="0"/>
              <a:t>而游戏难度等级在原始实现中也作为一个单例导出为了对象</a:t>
            </a:r>
            <a:r>
              <a:rPr lang="en-US" altLang="zh-CN" dirty="0"/>
              <a:t>, </a:t>
            </a:r>
            <a:r>
              <a:rPr lang="zh-CN" altLang="en-US" dirty="0"/>
              <a:t>这种是否该作为独立的领域对象？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领域模型与对象模型</a:t>
            </a:r>
            <a:endParaRPr lang="en-US" altLang="zh-CN" b="1" dirty="0"/>
          </a:p>
          <a:p>
            <a:pPr lvl="1"/>
            <a:r>
              <a:rPr lang="zh-CN" altLang="en-US" dirty="0"/>
              <a:t>领域模型与对象模型的核心差异与绘制边界无法清晰界定</a:t>
            </a:r>
            <a:r>
              <a:rPr lang="en-US" altLang="zh-CN" dirty="0"/>
              <a:t>, </a:t>
            </a:r>
            <a:r>
              <a:rPr lang="zh-CN" altLang="en-US" dirty="0"/>
              <a:t>导致画出来的模型偏离了 “聚焦业务本质” 的目标</a:t>
            </a:r>
            <a:r>
              <a:rPr lang="en-US" altLang="zh-CN" dirty="0"/>
              <a:t>,</a:t>
            </a:r>
            <a:r>
              <a:rPr lang="zh-CN" altLang="en-US" dirty="0"/>
              <a:t> 掺入实现细节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Svelte </a:t>
            </a:r>
            <a:r>
              <a:rPr lang="zh-CN" altLang="en-US" b="1" dirty="0"/>
              <a:t>与 </a:t>
            </a:r>
            <a:r>
              <a:rPr lang="en-US" altLang="zh-CN" b="1" dirty="0"/>
              <a:t>OO </a:t>
            </a:r>
            <a:r>
              <a:rPr lang="zh-CN" altLang="en-US" b="1" dirty="0"/>
              <a:t>结合</a:t>
            </a:r>
            <a:endParaRPr lang="en-US" altLang="zh-CN" b="1" dirty="0"/>
          </a:p>
          <a:p>
            <a:pPr lvl="1"/>
            <a:r>
              <a:rPr lang="en-US" altLang="zh-CN" dirty="0"/>
              <a:t>Svelte </a:t>
            </a:r>
            <a:r>
              <a:rPr lang="zh-CN" altLang="en-US" dirty="0"/>
              <a:t>的响应式和 </a:t>
            </a:r>
            <a:r>
              <a:rPr lang="en-US" altLang="zh-CN" dirty="0"/>
              <a:t>OO </a:t>
            </a:r>
            <a:r>
              <a:rPr lang="zh-CN" altLang="en-US" dirty="0"/>
              <a:t>的封装性是否冲突？比如 </a:t>
            </a:r>
            <a:r>
              <a:rPr lang="en-US" altLang="zh-CN" dirty="0"/>
              <a:t>Board </a:t>
            </a:r>
            <a:r>
              <a:rPr lang="zh-CN" altLang="en-US" dirty="0"/>
              <a:t>类的 </a:t>
            </a:r>
            <a:r>
              <a:rPr lang="en-US" altLang="zh-CN" dirty="0"/>
              <a:t>grid</a:t>
            </a:r>
            <a:r>
              <a:rPr lang="zh-CN" altLang="en-US" dirty="0"/>
              <a:t>（单元格数据）设为私有属性后，</a:t>
            </a:r>
            <a:r>
              <a:rPr lang="en-US" altLang="zh-CN" dirty="0"/>
              <a:t>Svelte </a:t>
            </a:r>
            <a:r>
              <a:rPr lang="zh-CN" altLang="en-US" dirty="0"/>
              <a:t>应该无法监听变化，该怎么平衡封装性和响应式？</a:t>
            </a:r>
          </a:p>
          <a:p>
            <a:pPr lvl="1"/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452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19993-6C3B-9433-6E67-5285E170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4F96D-FE73-2F6B-1040-49A579460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0983"/>
            <a:ext cx="9144000" cy="1112972"/>
          </a:xfrm>
        </p:spPr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THANKS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69F52F-E2E7-7070-A737-ACEA5845AD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FFF"/>
              </a:clrFrom>
              <a:clrTo>
                <a:srgbClr val="FC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835" y="-40005"/>
            <a:ext cx="1701165" cy="1661795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065FB5D-5A6B-511A-9F08-DDAE2D770E18}"/>
              </a:ext>
            </a:extLst>
          </p:cNvPr>
          <p:cNvCxnSpPr/>
          <p:nvPr/>
        </p:nvCxnSpPr>
        <p:spPr>
          <a:xfrm>
            <a:off x="-41910" y="6237605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9C2A00D7-759D-C09B-E8E3-F5468B30AF34}"/>
              </a:ext>
            </a:extLst>
          </p:cNvPr>
          <p:cNvGrpSpPr/>
          <p:nvPr/>
        </p:nvGrpSpPr>
        <p:grpSpPr>
          <a:xfrm>
            <a:off x="-13335" y="1661795"/>
            <a:ext cx="488950" cy="2042795"/>
            <a:chOff x="2382" y="2667"/>
            <a:chExt cx="1318" cy="321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7F2C6DA-C4B5-C135-F303-C42C7F16A23E}"/>
                </a:ext>
              </a:extLst>
            </p:cNvPr>
            <p:cNvSpPr/>
            <p:nvPr/>
          </p:nvSpPr>
          <p:spPr>
            <a:xfrm>
              <a:off x="2400" y="3159"/>
              <a:ext cx="527" cy="272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5E7DB41-D66B-F298-35E8-B9A7659A1570}"/>
                </a:ext>
              </a:extLst>
            </p:cNvPr>
            <p:cNvSpPr/>
            <p:nvPr/>
          </p:nvSpPr>
          <p:spPr>
            <a:xfrm>
              <a:off x="2400" y="2667"/>
              <a:ext cx="1301" cy="2724"/>
            </a:xfrm>
            <a:prstGeom prst="rect">
              <a:avLst/>
            </a:prstGeom>
            <a:solidFill>
              <a:srgbClr val="00582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9A90C456-04DA-7920-9988-91B263525736}"/>
                </a:ext>
              </a:extLst>
            </p:cNvPr>
            <p:cNvSpPr/>
            <p:nvPr/>
          </p:nvSpPr>
          <p:spPr>
            <a:xfrm rot="16200000" flipH="1">
              <a:off x="2400" y="5358"/>
              <a:ext cx="508" cy="544"/>
            </a:xfrm>
            <a:prstGeom prst="rt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5B59F5E-2FCB-A733-6B07-1A00C56B9BCC}"/>
              </a:ext>
            </a:extLst>
          </p:cNvPr>
          <p:cNvSpPr txBox="1"/>
          <p:nvPr/>
        </p:nvSpPr>
        <p:spPr>
          <a:xfrm>
            <a:off x="9240520" y="6249287"/>
            <a:ext cx="29514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005825"/>
                </a:solidFill>
                <a:ea typeface="华文楷体" panose="02010600040101010101" pitchFamily="2" charset="-122"/>
              </a:rPr>
              <a:t>博学 审问 慎思 明辨 笃行</a:t>
            </a:r>
          </a:p>
        </p:txBody>
      </p:sp>
    </p:spTree>
    <p:extLst>
      <p:ext uri="{BB962C8B-B14F-4D97-AF65-F5344CB8AC3E}">
        <p14:creationId xmlns:p14="http://schemas.microsoft.com/office/powerpoint/2010/main" val="2480262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1534</Words>
  <Application>Microsoft Office PowerPoint</Application>
  <PresentationFormat>宽屏</PresentationFormat>
  <Paragraphs>146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 Unicode MS</vt:lpstr>
      <vt:lpstr>Inter</vt:lpstr>
      <vt:lpstr>等线</vt:lpstr>
      <vt:lpstr>等线 Light</vt:lpstr>
      <vt:lpstr>华文楷体</vt:lpstr>
      <vt:lpstr>宋体</vt:lpstr>
      <vt:lpstr>微软雅黑</vt:lpstr>
      <vt:lpstr>Arial</vt:lpstr>
      <vt:lpstr>Office 主题​​</vt:lpstr>
      <vt:lpstr>中期项目汇报</vt:lpstr>
      <vt:lpstr>用例分析</vt:lpstr>
      <vt:lpstr>用例分析</vt:lpstr>
      <vt:lpstr>PowerPoint 演示文稿</vt:lpstr>
      <vt:lpstr>PowerPoint 演示文稿</vt:lpstr>
      <vt:lpstr>PowerPoint 演示文稿</vt:lpstr>
      <vt:lpstr>下一步提示</vt:lpstr>
      <vt:lpstr>下一步提示</vt:lpstr>
      <vt:lpstr>探索模式/回溯</vt:lpstr>
      <vt:lpstr>分支模型</vt:lpstr>
      <vt:lpstr>实现效果</vt:lpstr>
      <vt:lpstr>优点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菁菁 李</dc:creator>
  <cp:lastModifiedBy>文朔 刘</cp:lastModifiedBy>
  <cp:revision>70</cp:revision>
  <dcterms:created xsi:type="dcterms:W3CDTF">2025-12-27T07:38:11Z</dcterms:created>
  <dcterms:modified xsi:type="dcterms:W3CDTF">2025-12-29T01:47:11Z</dcterms:modified>
</cp:coreProperties>
</file>